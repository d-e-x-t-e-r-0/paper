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371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23239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627155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60084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009268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61282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887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520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0888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6085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492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8173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86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8923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0539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839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22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7926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784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327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1086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736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30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498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12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582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2497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868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8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8554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I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0705" name="Text 0"/>
          <p:cNvSpPr/>
          <p:nvPr/>
        </p:nvSpPr>
        <p:spPr bwMode="auto"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555555"/>
                </a:solidFill>
                <a:latin typeface="Arial"/>
                <a:ea typeface="Arial"/>
                <a:cs typeface="Arial"/>
              </a:rPr>
              <a:t>CSE574 | Jayesh Puri 24155058</a:t>
            </a:r>
            <a:endParaRPr lang="en-US" sz="800"/>
          </a:p>
        </p:txBody>
      </p:sp>
      <p:sp>
        <p:nvSpPr>
          <p:cNvPr id="207268732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37209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214395" name="Text 0"/>
          <p:cNvSpPr txBox="1"/>
          <p:nvPr/>
        </p:nvSpPr>
        <p:spPr bwMode="auto"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Risk-Aware Cloud Sandbox Scheduling for Secure Multi-Tenant Workloads</a:t>
            </a:r>
            <a:endParaRPr lang="en-US" sz="3000"/>
          </a:p>
        </p:txBody>
      </p:sp>
      <p:sp>
        <p:nvSpPr>
          <p:cNvPr id="400734249" name="Text 1"/>
          <p:cNvSpPr txBox="1"/>
          <p:nvPr/>
        </p:nvSpPr>
        <p:spPr bwMode="auto">
          <a:xfrm flipH="0" flipV="0">
            <a:off x="2815695" y="2103119"/>
            <a:ext cx="3512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CSE-574 – Cloud Computing (Project)</a:t>
            </a:r>
            <a:endParaRPr lang="en-US" sz="1600"/>
          </a:p>
        </p:txBody>
      </p:sp>
      <p:sp>
        <p:nvSpPr>
          <p:cNvPr id="1025455211" name="Text 3"/>
          <p:cNvSpPr txBox="1"/>
          <p:nvPr/>
        </p:nvSpPr>
        <p:spPr bwMode="auto">
          <a:xfrm flipH="0" flipV="0">
            <a:off x="3438472" y="3063240"/>
            <a:ext cx="226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Topic #12: Serverless Computing</a:t>
            </a:r>
            <a:endParaRPr lang="en-US" sz="1200"/>
          </a:p>
        </p:txBody>
      </p:sp>
      <p:sp>
        <p:nvSpPr>
          <p:cNvPr id="376267049" name="Text 4"/>
          <p:cNvSpPr txBox="1"/>
          <p:nvPr/>
        </p:nvSpPr>
        <p:spPr bwMode="auto"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</a:rPr>
              <a:t>Security-aware sandbox placement; cold-start and overhead treated as costs (distinct from SmartServe prediction-only and intrusion-detection scheduling).</a:t>
            </a:r>
            <a:endParaRPr lang="en-US" sz="1100"/>
          </a:p>
        </p:txBody>
      </p:sp>
      <p:sp>
        <p:nvSpPr>
          <p:cNvPr id="75360116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355967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Formulation</a:t>
            </a:r>
            <a:endParaRPr lang="en-US" sz="2200"/>
          </a:p>
        </p:txBody>
      </p:sp>
      <p:sp>
        <p:nvSpPr>
          <p:cNvPr id="2041276341" name="Text 1"/>
          <p:cNvSpPr txBox="1"/>
          <p:nvPr/>
        </p:nvSpPr>
        <p:spPr bwMode="auto">
          <a:xfrm>
            <a:off x="365760" y="8686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 stream: cpu/mem, deadline, risk score, arrival rate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Host j + sandbox k (container / gVisor / Kata-MicroVM) + warm or cold start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Conflict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Strong isolation = safe but slow/costly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Goal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Minimize co-location violations + SLO misses + overhead, s.t. capacity and risk thresholds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Assumptions / scope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Attacker issues only valid invocations (Kumo threat model)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Co-location and contention modeled; microarchitectural side channels and network DDoS out of scope</a:t>
            </a:r>
            <a:endParaRPr lang="en-US" sz="10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 score per function from tenant trust and data sensitivity</a:t>
            </a:r>
            <a:endParaRPr lang="en-US" sz="1000"/>
          </a:p>
        </p:txBody>
      </p:sp>
      <p:sp>
        <p:nvSpPr>
          <p:cNvPr id="716257532" name="Text 2"/>
          <p:cNvSpPr txBox="1"/>
          <p:nvPr/>
        </p:nvSpPr>
        <p:spPr bwMode="auto">
          <a:xfrm>
            <a:off x="4754880" y="1005840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Attacker fn</a:t>
            </a:r>
            <a:endParaRPr lang="en-US" sz="800"/>
          </a:p>
        </p:txBody>
      </p:sp>
      <p:sp>
        <p:nvSpPr>
          <p:cNvPr id="1886688885" name="Text 3"/>
          <p:cNvSpPr txBox="1"/>
          <p:nvPr/>
        </p:nvSpPr>
        <p:spPr bwMode="auto">
          <a:xfrm>
            <a:off x="4754880" y="1600200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Victim fn</a:t>
            </a:r>
            <a:endParaRPr lang="en-US" sz="800"/>
          </a:p>
        </p:txBody>
      </p:sp>
      <p:sp>
        <p:nvSpPr>
          <p:cNvPr id="1358284990" name="Text 4"/>
          <p:cNvSpPr txBox="1"/>
          <p:nvPr/>
        </p:nvSpPr>
        <p:spPr bwMode="auto">
          <a:xfrm>
            <a:off x="6400800" y="100584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host / shared container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= co-location risk</a:t>
            </a:r>
            <a:endParaRPr lang="en-US" sz="800"/>
          </a:p>
        </p:txBody>
      </p:sp>
      <p:sp>
        <p:nvSpPr>
          <p:cNvPr id="2036293298" name="Shape 5"/>
          <p:cNvSpPr/>
          <p:nvPr/>
        </p:nvSpPr>
        <p:spPr bwMode="auto">
          <a:xfrm>
            <a:off x="5760720" y="1211580"/>
            <a:ext cx="640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44008735" name="Shape 6"/>
          <p:cNvSpPr/>
          <p:nvPr/>
        </p:nvSpPr>
        <p:spPr bwMode="auto">
          <a:xfrm>
            <a:off x="5760720" y="1805940"/>
            <a:ext cx="640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10962245" name="Text 7"/>
          <p:cNvSpPr txBox="1"/>
          <p:nvPr/>
        </p:nvSpPr>
        <p:spPr bwMode="auto">
          <a:xfrm>
            <a:off x="5760720" y="10515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555555"/>
                </a:solidFill>
                <a:latin typeface="Arial"/>
                <a:ea typeface="Arial"/>
                <a:cs typeface="Arial"/>
              </a:rPr>
              <a:t>side-channel</a:t>
            </a:r>
            <a:endParaRPr lang="en-US" sz="650"/>
          </a:p>
        </p:txBody>
      </p:sp>
      <p:sp>
        <p:nvSpPr>
          <p:cNvPr id="408598667" name="Text 8"/>
          <p:cNvSpPr txBox="1"/>
          <p:nvPr/>
        </p:nvSpPr>
        <p:spPr bwMode="auto">
          <a:xfrm>
            <a:off x="5760720" y="164592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555555"/>
                </a:solidFill>
                <a:latin typeface="Arial"/>
                <a:ea typeface="Arial"/>
                <a:cs typeface="Arial"/>
              </a:rPr>
              <a:t>contention</a:t>
            </a:r>
            <a:endParaRPr lang="en-US" sz="650"/>
          </a:p>
        </p:txBody>
      </p:sp>
      <p:sp>
        <p:nvSpPr>
          <p:cNvPr id="385413836" name="Text 9"/>
          <p:cNvSpPr txBox="1"/>
          <p:nvPr/>
        </p:nvSpPr>
        <p:spPr bwMode="auto">
          <a:xfrm>
            <a:off x="4754880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555555"/>
                </a:solidFill>
                <a:latin typeface="Arial"/>
                <a:ea typeface="Arial"/>
                <a:cs typeface="Arial"/>
              </a:rPr>
              <a:t>vs</a:t>
            </a:r>
            <a:endParaRPr lang="en-US" sz="900"/>
          </a:p>
        </p:txBody>
      </p:sp>
      <p:sp>
        <p:nvSpPr>
          <p:cNvPr id="200069600" name="Text 10"/>
          <p:cNvSpPr txBox="1"/>
          <p:nvPr/>
        </p:nvSpPr>
        <p:spPr bwMode="auto">
          <a:xfrm>
            <a:off x="4754880" y="2743200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Attacker fn</a:t>
            </a:r>
            <a:endParaRPr lang="en-US" sz="800"/>
          </a:p>
        </p:txBody>
      </p:sp>
      <p:sp>
        <p:nvSpPr>
          <p:cNvPr id="1572284893" name="Text 11"/>
          <p:cNvSpPr txBox="1"/>
          <p:nvPr/>
        </p:nvSpPr>
        <p:spPr bwMode="auto">
          <a:xfrm>
            <a:off x="4754880" y="3337560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Victim fn</a:t>
            </a:r>
            <a:endParaRPr lang="en-US" sz="800"/>
          </a:p>
        </p:txBody>
      </p:sp>
      <p:sp>
        <p:nvSpPr>
          <p:cNvPr id="684675497" name="Text 12"/>
          <p:cNvSpPr txBox="1"/>
          <p:nvPr/>
        </p:nvSpPr>
        <p:spPr bwMode="auto">
          <a:xfrm>
            <a:off x="6400800" y="274320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Dedicated Kata / MicroVM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= isolated</a:t>
            </a:r>
            <a:endParaRPr lang="en-US" sz="800"/>
          </a:p>
        </p:txBody>
      </p:sp>
      <p:sp>
        <p:nvSpPr>
          <p:cNvPr id="1219235553" name="Shape 13"/>
          <p:cNvSpPr/>
          <p:nvPr/>
        </p:nvSpPr>
        <p:spPr bwMode="auto">
          <a:xfrm>
            <a:off x="5760720" y="2948940"/>
            <a:ext cx="640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01955249" name="Shape 14"/>
          <p:cNvSpPr/>
          <p:nvPr/>
        </p:nvSpPr>
        <p:spPr bwMode="auto">
          <a:xfrm>
            <a:off x="5760720" y="3543300"/>
            <a:ext cx="640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5810755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094605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Literature Review</a:t>
            </a:r>
            <a:endParaRPr lang="en-US" sz="2200"/>
          </a:p>
        </p:txBody>
      </p:sp>
      <p:graphicFrame>
        <p:nvGraphicFramePr>
          <p:cNvPr id="88277679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65760" y="822960"/>
          <a:ext cx="841248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463040"/>
                <a:gridCol w="2194560"/>
                <a:gridCol w="2011680"/>
                <a:gridCol w="1371600"/>
              </a:tblGrid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Algorithm / method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Numbers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P1 Kumo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IEEE CCGrid 2026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Simulators ignore scheduler-induced security risk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Discrete-event: arrivals, placement, reuse, contention, queuing; attacker/victim first-class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Scheduler choice gives orders-of-magnitude co-location difference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Measures only; no risk-aware policy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P2 Close Talker + Double-Dip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NDSS 2026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Schedulers leak placement; attacker forces co-location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Scheduler fingerprinting + attack recipe; Double-Dip: prefer host where user already active, else least-users host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Co-location 0.056/0.118/0.203/0.260/0.306 at 5/10/20/30/50 attackers vs Helper 0.495/0.781/1.0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User-level isolation only; no sandbox levels, risk score or cost model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P3 MPC Scheduler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IEEE MASCOTS 2025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Cold starts hurt tail latency; static keep-alive wastes resources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Fourier forecast + MPC: min J over horizon H → x_k cold, r_k reclaim, s_k serve; predictive shaping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Up to -85% p90 latency, -34% resources; bursty -82.9% mean / -85.5% p90 / -82.6% p95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Isolation-blind; assumes reuse is safe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6575165" name="Text 1"/>
          <p:cNvSpPr txBox="1"/>
          <p:nvPr/>
        </p:nvSpPr>
        <p:spPr bwMode="auto">
          <a:xfrm>
            <a:off x="365760" y="36118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P1: Shao et al., IEEE CCGrid 2026, pp. 653-664, DOI 10.1109/CCGRID68966.2026.00076, arXiv:2603.19787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     Setup: 512 workers, 200 tenants x 20 functions, 20,000 benign invocations, Poisson arrivals, 20 seeds; schedulers Random, Double-Dip, Helper, OpenWhisk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P2: Shao et al., NDSS 2026, DOI 10.14722/ndss.2026.241376, arXiv:2512.10361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     Setup: 100-node simulation (1000 runs averaged), 50-node CloudLab cluster, Azure Functions case study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P3: Nguyen et al., IEEE MASCOTS 2025, arXiv:2508.07640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     Setup: single-node k3s OpenWhisk, EfficientDet function (Lwarm 280 ms, Lcold 10.5 s), Azure traces + synthetic bursts, 60-min runs</a:t>
            </a:r>
            <a:endParaRPr lang="en-US" sz="700"/>
          </a:p>
        </p:txBody>
      </p:sp>
      <p:sp>
        <p:nvSpPr>
          <p:cNvPr id="130023479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427483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Gap</a:t>
            </a:r>
            <a:endParaRPr lang="en-US" sz="2200"/>
          </a:p>
        </p:txBody>
      </p:sp>
      <p:graphicFrame>
        <p:nvGraphicFramePr>
          <p:cNvPr id="192971909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65760" y="822960"/>
          <a:ext cx="841248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920240"/>
                <a:gridCol w="1188720"/>
                <a:gridCol w="1920240"/>
                <a:gridCol w="2011680"/>
              </a:tblGrid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Objective / Algo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Isolation-aware?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Key numbers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Limitation → Our fix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Kumo (IEEE CCGrid'26)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Sim: placement+reuse+contention; metrics co-loc prob, TTFC, drops, tail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Measures risk, no policy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Scheduler → orders-of-mag co-loc diff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scheduler → we add risk-aware scheduler, evaluate in Kumo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Close Talker / Double-Dip (NDSS'26)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Attack recipe + soft user isolation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User-count only, 1 level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0.306 vs 1.0 co-loc @50 attackers; warm-start ≈ Helper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risk score, no sandbox strengths, no cost model → we add R(i,j) + 3 sandbox levels + adaptive weights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MPC Scheduler (IEEE MASCOTS'25)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MPC: forecast + min latency/resource over H; prewarm/dispatch/reclaim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(reuse = safe)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-85% p90, -34% resources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Perf-only, maximizes risky reuse → we add risk term w_R·R, isolation constraint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Ours: Risk-Aware Sandbox Scheduler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Risk(R)+Latency+Overhead+Cost; adaptive w_R=f(risk,load); 3 isolation levels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Yes: Shared/Isolated/Dedicated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Eval-2 claim: ↓ co-loc/violations vs MPC/Helper at small latency cost; ↓ overhead vs always-isolate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162107" name="Text 1"/>
          <p:cNvSpPr txBox="1"/>
          <p:nvPr/>
        </p:nvSpPr>
        <p:spPr bwMode="auto">
          <a:xfrm>
            <a:off x="365760" y="3794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Kumo measures risk but gives no policy; Double-Dip isolates by user count only; MPC optimizes latency/resource assuming safe reuse — none jointly optimizes risk × isolation level × latency/cost. That is our gap.</a:t>
            </a:r>
            <a:endParaRPr lang="en-US" sz="1200"/>
          </a:p>
        </p:txBody>
      </p:sp>
      <p:sp>
        <p:nvSpPr>
          <p:cNvPr id="353374208" name="Text 2"/>
          <p:cNvSpPr txBox="1"/>
          <p:nvPr/>
        </p:nvSpPr>
        <p:spPr bwMode="auto">
          <a:xfrm>
            <a:off x="365760" y="44348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55555"/>
                </a:solidFill>
                <a:latin typeface="Arial"/>
                <a:ea typeface="Arial"/>
                <a:cs typeface="Arial"/>
              </a:rPr>
              <a:t>We borrow: Kumo simulator + metrics (P1); threat model + Double-Dip baseline (P2); constrained-optimization template + cold-start metrics (P3).</a:t>
            </a:r>
            <a:endParaRPr lang="en-US" sz="850"/>
          </a:p>
        </p:txBody>
      </p:sp>
      <p:sp>
        <p:nvSpPr>
          <p:cNvPr id="163349295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175955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Mathematical Model</a:t>
            </a:r>
            <a:endParaRPr lang="en-US" sz="2200"/>
          </a:p>
        </p:txBody>
      </p:sp>
      <p:sp>
        <p:nvSpPr>
          <p:cNvPr id="435371011" name="Text 1"/>
          <p:cNvSpPr txBox="1"/>
          <p:nvPr/>
        </p:nvSpPr>
        <p:spPr bwMode="auto">
          <a:xfrm>
            <a:off x="365760" y="86868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Notation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functions i: cpu_i, mem_i, deadline_i, risk_i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hosts j: CPU_j, MEM_j, load L_j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sandbox k ∈ {container, gVisor, Kata/MicroVM}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 x_{i,j,k} ∈ {0,1}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Objective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  α·Risk(x) + β·Latency(x) + γ·Overhead(x) + δ·Cost(x)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Components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Risk(i,j,k): high if suspicious + sensitive functions share host/sandbox and k is weak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Latency: cold-start delay of k + queueing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Overhead: CPU/mem of k;  Cost: sandbox creation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Per-level parameters iso_strength_k, cold_latency_k, overhead_k, cost_k: [TBD]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Constraints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function placed once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host capacity (CPU_j, MEM_j)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deadline_i met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high-risk ⇒ Kata/MicroVM only</a:t>
            </a:r>
            <a:endParaRPr lang="en-US" sz="900"/>
          </a:p>
        </p:txBody>
      </p:sp>
      <p:sp>
        <p:nvSpPr>
          <p:cNvPr id="996940551" name="Text 2"/>
          <p:cNvSpPr txBox="1"/>
          <p:nvPr/>
        </p:nvSpPr>
        <p:spPr bwMode="auto">
          <a:xfrm>
            <a:off x="4846320" y="89611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— no demo</a:t>
            </a:r>
            <a:endParaRPr lang="en-US" sz="700"/>
          </a:p>
        </p:txBody>
      </p:sp>
      <p:sp>
        <p:nvSpPr>
          <p:cNvPr id="604887933" name="Text 3"/>
          <p:cNvSpPr txBox="1"/>
          <p:nvPr/>
        </p:nvSpPr>
        <p:spPr bwMode="auto">
          <a:xfrm>
            <a:off x="4846320" y="1051560"/>
            <a:ext cx="393192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1D5DB"/>
            </a:solidFill>
          </a:ln>
        </p:spPr>
        <p:txBody>
          <a:bodyPr wrap="square" lIns="50800" tIns="50800" rIns="50800" bIns="50800" rtlCol="0" anchor="t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risk_i = w1*tenant_distrust + w2*data_sensitivity + w3*co_history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if risk_i &lt; 0.3: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allowed_k = {"shared"}        # fast, cheap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elif risk_i &lt; 0.7: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allowed_k = {"isolated"}      # gVisor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else: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allowed_k = {"dedicated"}     # Kata / MicroVM only</a:t>
            </a:r>
            <a:endParaRPr lang="en-US" sz="750"/>
          </a:p>
        </p:txBody>
      </p:sp>
      <p:sp>
        <p:nvSpPr>
          <p:cNvPr id="841532309" name="Shape 4"/>
          <p:cNvSpPr/>
          <p:nvPr/>
        </p:nvSpPr>
        <p:spPr bwMode="auto">
          <a:xfrm>
            <a:off x="5212080" y="4343400"/>
            <a:ext cx="34747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79986787" name="Shape 5"/>
          <p:cNvSpPr/>
          <p:nvPr/>
        </p:nvSpPr>
        <p:spPr bwMode="auto">
          <a:xfrm flipV="1">
            <a:off x="5212080" y="2697480"/>
            <a:ext cx="0" cy="164592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26905408" name="Shape 6"/>
          <p:cNvSpPr/>
          <p:nvPr/>
        </p:nvSpPr>
        <p:spPr bwMode="auto">
          <a:xfrm flipV="1">
            <a:off x="5303520" y="3474720"/>
            <a:ext cx="914400" cy="6858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8536947" name="Shape 7"/>
          <p:cNvSpPr/>
          <p:nvPr/>
        </p:nvSpPr>
        <p:spPr bwMode="auto">
          <a:xfrm flipV="1">
            <a:off x="6217920" y="3108960"/>
            <a:ext cx="1097280" cy="36576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91253341" name="Shape 8"/>
          <p:cNvSpPr/>
          <p:nvPr/>
        </p:nvSpPr>
        <p:spPr bwMode="auto">
          <a:xfrm flipV="1">
            <a:off x="7315200" y="3017519"/>
            <a:ext cx="1188720" cy="9144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63516497" name="Shape 9"/>
          <p:cNvSpPr/>
          <p:nvPr/>
        </p:nvSpPr>
        <p:spPr bwMode="auto">
          <a:xfrm flipV="1">
            <a:off x="5303520" y="4114800"/>
            <a:ext cx="1280160" cy="13716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7460852" name="Shape 10"/>
          <p:cNvSpPr/>
          <p:nvPr/>
        </p:nvSpPr>
        <p:spPr bwMode="auto">
          <a:xfrm flipV="1">
            <a:off x="6583680" y="3749040"/>
            <a:ext cx="1097280" cy="36576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28277620" name="Shape 11"/>
          <p:cNvSpPr/>
          <p:nvPr/>
        </p:nvSpPr>
        <p:spPr bwMode="auto">
          <a:xfrm flipV="1">
            <a:off x="7680960" y="3200400"/>
            <a:ext cx="822960" cy="5486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19293940" name="Text 12"/>
          <p:cNvSpPr txBox="1"/>
          <p:nvPr/>
        </p:nvSpPr>
        <p:spPr bwMode="auto">
          <a:xfrm>
            <a:off x="7498080" y="27432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↑</a:t>
            </a:r>
            <a:endParaRPr lang="en-US" sz="700"/>
          </a:p>
        </p:txBody>
      </p:sp>
      <p:sp>
        <p:nvSpPr>
          <p:cNvPr id="1314733599" name="Text 13"/>
          <p:cNvSpPr txBox="1"/>
          <p:nvPr/>
        </p:nvSpPr>
        <p:spPr bwMode="auto">
          <a:xfrm>
            <a:off x="7498080" y="3886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latency / cost ↑</a:t>
            </a:r>
            <a:endParaRPr lang="en-US" sz="700"/>
          </a:p>
        </p:txBody>
      </p:sp>
      <p:sp>
        <p:nvSpPr>
          <p:cNvPr id="594304107" name="Shape 14"/>
          <p:cNvSpPr/>
          <p:nvPr/>
        </p:nvSpPr>
        <p:spPr bwMode="auto">
          <a:xfrm>
            <a:off x="5715000" y="429768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95717924" name="Text 15"/>
          <p:cNvSpPr txBox="1"/>
          <p:nvPr/>
        </p:nvSpPr>
        <p:spPr bwMode="auto">
          <a:xfrm>
            <a:off x="5349240" y="44074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</a:t>
            </a:r>
            <a:endParaRPr lang="en-US" sz="700"/>
          </a:p>
        </p:txBody>
      </p:sp>
      <p:sp>
        <p:nvSpPr>
          <p:cNvPr id="627567681" name="Shape 16"/>
          <p:cNvSpPr/>
          <p:nvPr/>
        </p:nvSpPr>
        <p:spPr bwMode="auto">
          <a:xfrm>
            <a:off x="6995160" y="429768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47613466" name="Text 17"/>
          <p:cNvSpPr txBox="1"/>
          <p:nvPr/>
        </p:nvSpPr>
        <p:spPr bwMode="auto">
          <a:xfrm>
            <a:off x="6629400" y="44074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Isolated</a:t>
            </a:r>
            <a:endParaRPr lang="en-US" sz="700"/>
          </a:p>
        </p:txBody>
      </p:sp>
      <p:sp>
        <p:nvSpPr>
          <p:cNvPr id="80796595" name="Shape 18"/>
          <p:cNvSpPr/>
          <p:nvPr/>
        </p:nvSpPr>
        <p:spPr bwMode="auto">
          <a:xfrm>
            <a:off x="8183880" y="429768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47798974" name="Text 19"/>
          <p:cNvSpPr txBox="1"/>
          <p:nvPr/>
        </p:nvSpPr>
        <p:spPr bwMode="auto">
          <a:xfrm>
            <a:off x="7818120" y="44074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Dedicated</a:t>
            </a:r>
            <a:endParaRPr lang="en-US" sz="700"/>
          </a:p>
        </p:txBody>
      </p:sp>
      <p:sp>
        <p:nvSpPr>
          <p:cNvPr id="734259951" name="Text 20"/>
          <p:cNvSpPr txBox="1"/>
          <p:nvPr/>
        </p:nvSpPr>
        <p:spPr bwMode="auto">
          <a:xfrm>
            <a:off x="5212080" y="4553712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isolation strength →</a:t>
            </a:r>
            <a:endParaRPr lang="en-US" sz="700"/>
          </a:p>
        </p:txBody>
      </p:sp>
      <p:sp>
        <p:nvSpPr>
          <p:cNvPr id="88556741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307087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Algorithm: Risk-Aware Sandbox Scheduler</a:t>
            </a:r>
            <a:endParaRPr lang="en-US" sz="2200"/>
          </a:p>
        </p:txBody>
      </p:sp>
      <p:sp>
        <p:nvSpPr>
          <p:cNvPr id="1053034409" name="Text 1"/>
          <p:cNvSpPr txBox="1"/>
          <p:nvPr/>
        </p:nvSpPr>
        <p:spPr bwMode="auto">
          <a:xfrm>
            <a:off x="365760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Incoming fn</a:t>
            </a:r>
            <a:endParaRPr lang="en-US" sz="750"/>
          </a:p>
        </p:txBody>
      </p:sp>
      <p:sp>
        <p:nvSpPr>
          <p:cNvPr id="1719429299" name="Shape 2"/>
          <p:cNvSpPr/>
          <p:nvPr/>
        </p:nvSpPr>
        <p:spPr bwMode="auto">
          <a:xfrm>
            <a:off x="1417320" y="1028700"/>
            <a:ext cx="173736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12207084" name="Text 3"/>
          <p:cNvSpPr txBox="1"/>
          <p:nvPr/>
        </p:nvSpPr>
        <p:spPr bwMode="auto">
          <a:xfrm>
            <a:off x="1591056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risk_score</a:t>
            </a:r>
            <a:endParaRPr lang="en-US" sz="750"/>
          </a:p>
        </p:txBody>
      </p:sp>
      <p:sp>
        <p:nvSpPr>
          <p:cNvPr id="1604794410" name="Shape 4"/>
          <p:cNvSpPr/>
          <p:nvPr/>
        </p:nvSpPr>
        <p:spPr bwMode="auto">
          <a:xfrm>
            <a:off x="2642616" y="1028700"/>
            <a:ext cx="173736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76543288" name="Text 5"/>
          <p:cNvSpPr txBox="1"/>
          <p:nvPr/>
        </p:nvSpPr>
        <p:spPr bwMode="auto">
          <a:xfrm>
            <a:off x="2816352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 hosts (capacity)</a:t>
            </a:r>
            <a:endParaRPr lang="en-US" sz="750"/>
          </a:p>
        </p:txBody>
      </p:sp>
      <p:sp>
        <p:nvSpPr>
          <p:cNvPr id="1204878342" name="Shape 6"/>
          <p:cNvSpPr/>
          <p:nvPr/>
        </p:nvSpPr>
        <p:spPr bwMode="auto">
          <a:xfrm>
            <a:off x="3867911" y="1028700"/>
            <a:ext cx="173736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88612998" name="Text 7"/>
          <p:cNvSpPr txBox="1"/>
          <p:nvPr/>
        </p:nvSpPr>
        <p:spPr bwMode="auto">
          <a:xfrm>
            <a:off x="4041648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 k by risk</a:t>
            </a:r>
            <a:endParaRPr lang="en-US" sz="750"/>
          </a:p>
        </p:txBody>
      </p:sp>
      <p:sp>
        <p:nvSpPr>
          <p:cNvPr id="1944931704" name="Shape 8"/>
          <p:cNvSpPr/>
          <p:nvPr/>
        </p:nvSpPr>
        <p:spPr bwMode="auto">
          <a:xfrm>
            <a:off x="5093208" y="1028700"/>
            <a:ext cx="173736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14761133" name="Text 9"/>
          <p:cNvSpPr txBox="1"/>
          <p:nvPr/>
        </p:nvSpPr>
        <p:spPr bwMode="auto">
          <a:xfrm>
            <a:off x="5266944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score(j,k)</a:t>
            </a:r>
            <a:endParaRPr lang="en-US" sz="750"/>
          </a:p>
        </p:txBody>
      </p:sp>
      <p:sp>
        <p:nvSpPr>
          <p:cNvPr id="2117357546" name="Shape 10"/>
          <p:cNvSpPr/>
          <p:nvPr/>
        </p:nvSpPr>
        <p:spPr bwMode="auto">
          <a:xfrm>
            <a:off x="6318504" y="1028700"/>
            <a:ext cx="173736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2002428" name="Text 11"/>
          <p:cNvSpPr txBox="1"/>
          <p:nvPr/>
        </p:nvSpPr>
        <p:spPr bwMode="auto">
          <a:xfrm>
            <a:off x="6492240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place (j*,k*)</a:t>
            </a:r>
            <a:endParaRPr lang="en-US" sz="750"/>
          </a:p>
        </p:txBody>
      </p:sp>
      <p:sp>
        <p:nvSpPr>
          <p:cNvPr id="130114894" name="Shape 12"/>
          <p:cNvSpPr/>
          <p:nvPr/>
        </p:nvSpPr>
        <p:spPr bwMode="auto">
          <a:xfrm>
            <a:off x="7543800" y="1028700"/>
            <a:ext cx="173736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15876485" name="Text 13"/>
          <p:cNvSpPr txBox="1"/>
          <p:nvPr/>
        </p:nvSpPr>
        <p:spPr bwMode="auto">
          <a:xfrm>
            <a:off x="7717536" y="8229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 metrics</a:t>
            </a:r>
            <a:endParaRPr lang="en-US" sz="750"/>
          </a:p>
        </p:txBody>
      </p:sp>
      <p:sp>
        <p:nvSpPr>
          <p:cNvPr id="633650756" name="Text 14"/>
          <p:cNvSpPr txBox="1"/>
          <p:nvPr/>
        </p:nvSpPr>
        <p:spPr bwMode="auto">
          <a:xfrm>
            <a:off x="365760" y="1508759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compute risk_i</a:t>
            </a:r>
            <a:endParaRPr lang="en-US" sz="95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filter hosts j: capacity + load &lt; threshold</a:t>
            </a:r>
            <a:endParaRPr lang="en-US" sz="95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filter sandbox k allowed for risk_i</a:t>
            </a:r>
            <a:endParaRPr lang="en-US" sz="95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score each (j,k) = α·risk + β·latency + γ·overhead</a:t>
            </a:r>
            <a:endParaRPr lang="en-US" sz="95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place on min-score (j,k); if none, queue / scale</a:t>
            </a:r>
            <a:endParaRPr lang="en-US" sz="95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log co-location, cold-start, violation</a:t>
            </a:r>
            <a:endParaRPr lang="en-US" sz="950"/>
          </a:p>
        </p:txBody>
      </p:sp>
      <p:sp>
        <p:nvSpPr>
          <p:cNvPr id="1269170837" name="Text 15"/>
          <p:cNvSpPr txBox="1"/>
          <p:nvPr/>
        </p:nvSpPr>
        <p:spPr bwMode="auto">
          <a:xfrm>
            <a:off x="365760" y="3383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55555"/>
                </a:solidFill>
                <a:latin typeface="Arial"/>
                <a:ea typeface="Arial"/>
                <a:cs typeface="Arial"/>
              </a:rPr>
              <a:t>Double-Dip isolates by user count; MPC is latency-optimal but reuses risky containers; ours adds a risk term and an isolation choice.</a:t>
            </a:r>
            <a:endParaRPr lang="en-US" sz="1000"/>
          </a:p>
        </p:txBody>
      </p:sp>
      <p:sp>
        <p:nvSpPr>
          <p:cNvPr id="973698639" name="Text 16"/>
          <p:cNvSpPr txBox="1"/>
          <p:nvPr/>
        </p:nvSpPr>
        <p:spPr bwMode="auto">
          <a:xfrm>
            <a:off x="3657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Complexity: O(|J|·|K|) scoring per function, |K| = 3. If no feasible (j,k): queue / scale.</a:t>
            </a:r>
            <a:endParaRPr lang="en-US" sz="950"/>
          </a:p>
        </p:txBody>
      </p:sp>
      <p:sp>
        <p:nvSpPr>
          <p:cNvPr id="67507248" name="Text 17"/>
          <p:cNvSpPr txBox="1"/>
          <p:nvPr/>
        </p:nvSpPr>
        <p:spPr bwMode="auto">
          <a:xfrm>
            <a:off x="4389120" y="15361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— no demo</a:t>
            </a:r>
            <a:endParaRPr lang="en-US" sz="700"/>
          </a:p>
        </p:txBody>
      </p:sp>
      <p:sp>
        <p:nvSpPr>
          <p:cNvPr id="1654859343" name="Text 18"/>
          <p:cNvSpPr txBox="1"/>
          <p:nvPr/>
        </p:nvSpPr>
        <p:spPr bwMode="auto">
          <a:xfrm>
            <a:off x="4389120" y="1691640"/>
            <a:ext cx="438912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1D5DB"/>
            </a:solidFill>
          </a:ln>
        </p:spPr>
        <p:txBody>
          <a:bodyPr wrap="square" lIns="50800" tIns="50800" rIns="50800" bIns="5080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# P2 Double-Dip: prefer host where user u active, else least-users host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# P3 MPC: min J over H -&gt; x_k cold, r_k reclaim, s_k serve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# Ours: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score(j, k) = wR*Risk(i,j,k) + wL*Latency + wC*Cost + wS*Overhead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wR = f(risk_i, load)  # high-risk / low-load -&gt; favor strong isolation</a:t>
            </a:r>
            <a:endParaRPr lang="en-US" sz="700"/>
          </a:p>
        </p:txBody>
      </p:sp>
      <p:sp>
        <p:nvSpPr>
          <p:cNvPr id="1478231495" name="Text 19"/>
          <p:cNvSpPr txBox="1"/>
          <p:nvPr/>
        </p:nvSpPr>
        <p:spPr bwMode="auto">
          <a:xfrm>
            <a:off x="4389120" y="263347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— no demo</a:t>
            </a:r>
            <a:endParaRPr lang="en-US" sz="700"/>
          </a:p>
        </p:txBody>
      </p:sp>
      <p:sp>
        <p:nvSpPr>
          <p:cNvPr id="875498208" name="Text 20"/>
          <p:cNvSpPr txBox="1"/>
          <p:nvPr/>
        </p:nvSpPr>
        <p:spPr bwMode="auto">
          <a:xfrm>
            <a:off x="4389120" y="2788920"/>
            <a:ext cx="438912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D1D5DB"/>
            </a:solidFill>
          </a:ln>
        </p:spPr>
        <p:txBody>
          <a:bodyPr wrap="square" lIns="50800" tIns="50800" rIns="50800" bIns="5080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def place(i, hosts):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r = risk_score(i)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cands = [(j,k) for j in hosts if fits(j,i) for k in allowed_k(r)]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if not cands: return queue_or_scale(i)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j_star, k_star = min(cands, key=lambda jk: score(i, *jk))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deploy(i, j_star, k_star)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log_metrics(i, j_star, k_star)</a:t>
            </a:r>
            <a:endParaRPr lang="en-US" sz="700"/>
          </a:p>
        </p:txBody>
      </p:sp>
      <p:sp>
        <p:nvSpPr>
          <p:cNvPr id="182472727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613966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Simulator: Kumo</a:t>
            </a:r>
            <a:endParaRPr lang="en-US" sz="2200"/>
          </a:p>
        </p:txBody>
      </p:sp>
      <p:sp>
        <p:nvSpPr>
          <p:cNvPr id="221560748" name="Text 1"/>
          <p:cNvSpPr txBox="1"/>
          <p:nvPr/>
        </p:nvSpPr>
        <p:spPr bwMode="auto">
          <a:xfrm>
            <a:off x="365760" y="822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Kumo: placement + reuse + contention + queuing; attacker/victim first-class; ROR-R artifact.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CloudSim / ServerlessSim: no security model.</a:t>
            </a:r>
            <a:endParaRPr lang="en-US" sz="1000"/>
          </a:p>
        </p:txBody>
      </p:sp>
      <p:sp>
        <p:nvSpPr>
          <p:cNvPr id="1276869243" name="Text 2"/>
          <p:cNvSpPr txBox="1"/>
          <p:nvPr/>
        </p:nvSpPr>
        <p:spPr bwMode="auto">
          <a:xfrm>
            <a:off x="36576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555555"/>
                </a:solidFill>
                <a:latin typeface="Arial"/>
                <a:ea typeface="Arial"/>
                <a:cs typeface="Arial"/>
              </a:rPr>
              <a:t>Kumo: C++17 discrete-event, open-source; about 2-5 s per run on one core; built-in schedulers Random, Double-Dip, Helper, OpenWhisk.</a:t>
            </a:r>
            <a:endParaRPr lang="en-US" sz="800"/>
          </a:p>
        </p:txBody>
      </p:sp>
      <p:sp>
        <p:nvSpPr>
          <p:cNvPr id="1970018886" name="Text 3"/>
          <p:cNvSpPr txBox="1"/>
          <p:nvPr/>
        </p:nvSpPr>
        <p:spPr bwMode="auto">
          <a:xfrm>
            <a:off x="365760" y="155448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Workload (+attacker)</a:t>
            </a:r>
            <a:endParaRPr lang="en-US" sz="650"/>
          </a:p>
        </p:txBody>
      </p:sp>
      <p:sp>
        <p:nvSpPr>
          <p:cNvPr id="156007823" name="Shape 4"/>
          <p:cNvSpPr/>
          <p:nvPr/>
        </p:nvSpPr>
        <p:spPr bwMode="auto">
          <a:xfrm>
            <a:off x="1097280" y="1783080"/>
            <a:ext cx="109728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8528836" name="Text 5"/>
          <p:cNvSpPr txBox="1"/>
          <p:nvPr/>
        </p:nvSpPr>
        <p:spPr bwMode="auto">
          <a:xfrm>
            <a:off x="1207008" y="155448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</a:t>
            </a:r>
            <a:endParaRPr lang="en-US" sz="650"/>
          </a:p>
        </p:txBody>
      </p:sp>
      <p:sp>
        <p:nvSpPr>
          <p:cNvPr id="685765046" name="Shape 6"/>
          <p:cNvSpPr/>
          <p:nvPr/>
        </p:nvSpPr>
        <p:spPr bwMode="auto">
          <a:xfrm>
            <a:off x="1938528" y="1783080"/>
            <a:ext cx="109728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33171449" name="Text 7"/>
          <p:cNvSpPr txBox="1"/>
          <p:nvPr/>
        </p:nvSpPr>
        <p:spPr bwMode="auto">
          <a:xfrm>
            <a:off x="2048256" y="155448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Scheduler (ours)</a:t>
            </a:r>
            <a:endParaRPr lang="en-US" sz="650"/>
          </a:p>
        </p:txBody>
      </p:sp>
      <p:sp>
        <p:nvSpPr>
          <p:cNvPr id="1139364357" name="Shape 8"/>
          <p:cNvSpPr/>
          <p:nvPr/>
        </p:nvSpPr>
        <p:spPr bwMode="auto">
          <a:xfrm>
            <a:off x="2779776" y="1783080"/>
            <a:ext cx="109728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26188073" name="Text 9"/>
          <p:cNvSpPr txBox="1"/>
          <p:nvPr/>
        </p:nvSpPr>
        <p:spPr bwMode="auto">
          <a:xfrm>
            <a:off x="2889504" y="155448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Platform state</a:t>
            </a:r>
            <a:endParaRPr lang="en-US" sz="650"/>
          </a:p>
        </p:txBody>
      </p:sp>
      <p:sp>
        <p:nvSpPr>
          <p:cNvPr id="767318937" name="Shape 10"/>
          <p:cNvSpPr/>
          <p:nvPr/>
        </p:nvSpPr>
        <p:spPr bwMode="auto">
          <a:xfrm>
            <a:off x="3621024" y="1783080"/>
            <a:ext cx="109728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19456817" name="Text 11"/>
          <p:cNvSpPr txBox="1"/>
          <p:nvPr/>
        </p:nvSpPr>
        <p:spPr bwMode="auto">
          <a:xfrm>
            <a:off x="3730752" y="155448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65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</a:t>
            </a:r>
            <a:endParaRPr lang="en-US" sz="650"/>
          </a:p>
        </p:txBody>
      </p:sp>
      <p:sp>
        <p:nvSpPr>
          <p:cNvPr id="1038134153" name="Text 12"/>
          <p:cNvSpPr txBox="1"/>
          <p:nvPr/>
        </p:nvSpPr>
        <p:spPr bwMode="auto">
          <a:xfrm>
            <a:off x="4572000" y="850392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— no demo</a:t>
            </a:r>
            <a:endParaRPr lang="en-US" sz="700"/>
          </a:p>
        </p:txBody>
      </p:sp>
      <p:sp>
        <p:nvSpPr>
          <p:cNvPr id="113642534" name="Text 13"/>
          <p:cNvSpPr txBox="1"/>
          <p:nvPr/>
        </p:nvSpPr>
        <p:spPr bwMode="auto">
          <a:xfrm>
            <a:off x="4572000" y="1005840"/>
            <a:ext cx="420624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D1D5DB"/>
            </a:solidFill>
          </a:ln>
        </p:spPr>
        <p:txBody>
          <a:bodyPr wrap="square" lIns="50800" tIns="50800" rIns="50800" bIns="50800" rtlCol="0" anchor="t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# Kumo: scheduler.place() + container.reuse + attacker/victim tags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metrics = ["co_loc_rate", "TTFC", "violations",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   "p95_latency", "cold_rate", "overhead", "cost"]</a:t>
            </a:r>
            <a:endParaRPr lang="en-US" sz="700"/>
          </a:p>
          <a:p>
            <a:pPr marL="0" indent="0">
              <a:buNone/>
              <a:defRPr/>
            </a:pPr>
            <a:r>
              <a:rPr lang="en-US" sz="7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# Promise: down vs MPC/Helper, far cheaper than always-isolate</a:t>
            </a:r>
            <a:endParaRPr lang="en-US" sz="700"/>
          </a:p>
        </p:txBody>
      </p:sp>
      <p:sp>
        <p:nvSpPr>
          <p:cNvPr id="1118177148" name="Text 14"/>
          <p:cNvSpPr txBox="1"/>
          <p:nvPr/>
        </p:nvSpPr>
        <p:spPr bwMode="auto">
          <a:xfrm>
            <a:off x="45720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55555"/>
                </a:solidFill>
                <a:latin typeface="Arial"/>
                <a:ea typeface="Arial"/>
                <a:cs typeface="Arial"/>
              </a:rPr>
              <a:t>Eval-2 baselines: Helper/OpenWhisk, Double-Dip, MPC/AiW, always-isolate vs Ours.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555555"/>
                </a:solidFill>
                <a:latin typeface="Arial"/>
                <a:ea typeface="Arial"/>
                <a:cs typeface="Arial"/>
              </a:rPr>
              <a:t>Metrics: co-loc rate, TTFC, violations, p95, cold rate, overhead, cost.</a:t>
            </a:r>
            <a:endParaRPr lang="en-US" sz="900"/>
          </a:p>
        </p:txBody>
      </p:sp>
      <p:sp>
        <p:nvSpPr>
          <p:cNvPr id="87530512" name="Text 15"/>
          <p:cNvSpPr txBox="1"/>
          <p:nvPr/>
        </p:nvSpPr>
        <p:spPr bwMode="auto">
          <a:xfrm>
            <a:off x="365760" y="2514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Request lifecycle</a:t>
            </a:r>
            <a:endParaRPr lang="en-US" sz="900"/>
          </a:p>
        </p:txBody>
      </p:sp>
      <p:sp>
        <p:nvSpPr>
          <p:cNvPr id="1232370072" name="Text 16"/>
          <p:cNvSpPr txBox="1"/>
          <p:nvPr/>
        </p:nvSpPr>
        <p:spPr bwMode="auto">
          <a:xfrm>
            <a:off x="365760" y="3017519"/>
            <a:ext cx="7315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  <a:endParaRPr lang="en-US" sz="800"/>
          </a:p>
        </p:txBody>
      </p:sp>
      <p:sp>
        <p:nvSpPr>
          <p:cNvPr id="1528574736" name="Text 17"/>
          <p:cNvSpPr txBox="1"/>
          <p:nvPr/>
        </p:nvSpPr>
        <p:spPr bwMode="auto">
          <a:xfrm>
            <a:off x="1371600" y="3017519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OpenWhisk / K8s controller</a:t>
            </a:r>
            <a:endParaRPr lang="en-US" sz="800"/>
          </a:p>
        </p:txBody>
      </p:sp>
      <p:sp>
        <p:nvSpPr>
          <p:cNvPr id="2057652338" name="Text 18"/>
          <p:cNvSpPr txBox="1"/>
          <p:nvPr/>
        </p:nvSpPr>
        <p:spPr bwMode="auto">
          <a:xfrm>
            <a:off x="3017519" y="3017519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Redis queue</a:t>
            </a:r>
            <a:endParaRPr lang="en-US" sz="800"/>
          </a:p>
        </p:txBody>
      </p:sp>
      <p:sp>
        <p:nvSpPr>
          <p:cNvPr id="749688671" name="Text 19"/>
          <p:cNvSpPr txBox="1"/>
          <p:nvPr/>
        </p:nvSpPr>
        <p:spPr bwMode="auto">
          <a:xfrm>
            <a:off x="4389120" y="278892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Warm container (hit)</a:t>
            </a:r>
            <a:endParaRPr lang="en-US" sz="800"/>
          </a:p>
        </p:txBody>
      </p:sp>
      <p:sp>
        <p:nvSpPr>
          <p:cNvPr id="1230379054" name="Text 20"/>
          <p:cNvSpPr txBox="1"/>
          <p:nvPr/>
        </p:nvSpPr>
        <p:spPr bwMode="auto">
          <a:xfrm>
            <a:off x="4389120" y="33375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Cold start (miss)</a:t>
            </a:r>
            <a:endParaRPr lang="en-US" sz="800"/>
          </a:p>
        </p:txBody>
      </p:sp>
      <p:sp>
        <p:nvSpPr>
          <p:cNvPr id="713059376" name="Text 21"/>
          <p:cNvSpPr txBox="1"/>
          <p:nvPr/>
        </p:nvSpPr>
        <p:spPr bwMode="auto">
          <a:xfrm>
            <a:off x="6309360" y="3017519"/>
            <a:ext cx="914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Reclaim</a:t>
            </a:r>
            <a:endParaRPr lang="en-US" sz="800"/>
          </a:p>
        </p:txBody>
      </p:sp>
      <p:sp>
        <p:nvSpPr>
          <p:cNvPr id="899450097" name="Shape 22"/>
          <p:cNvSpPr/>
          <p:nvPr/>
        </p:nvSpPr>
        <p:spPr bwMode="auto">
          <a:xfrm>
            <a:off x="1097280" y="3223260"/>
            <a:ext cx="2743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601077" name="Shape 23"/>
          <p:cNvSpPr/>
          <p:nvPr/>
        </p:nvSpPr>
        <p:spPr bwMode="auto">
          <a:xfrm>
            <a:off x="2743200" y="3223260"/>
            <a:ext cx="2743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42211753" name="Shape 24"/>
          <p:cNvSpPr/>
          <p:nvPr/>
        </p:nvSpPr>
        <p:spPr bwMode="auto">
          <a:xfrm flipV="1">
            <a:off x="4023360" y="2971800"/>
            <a:ext cx="365760" cy="25146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7439011" name="Shape 25"/>
          <p:cNvSpPr/>
          <p:nvPr/>
        </p:nvSpPr>
        <p:spPr bwMode="auto">
          <a:xfrm>
            <a:off x="4023360" y="3223260"/>
            <a:ext cx="365760" cy="29718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37901852" name="Shape 26"/>
          <p:cNvSpPr/>
          <p:nvPr/>
        </p:nvSpPr>
        <p:spPr bwMode="auto">
          <a:xfrm>
            <a:off x="5852160" y="2971800"/>
            <a:ext cx="457200" cy="25146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56222398" name="Shape 27"/>
          <p:cNvSpPr/>
          <p:nvPr/>
        </p:nvSpPr>
        <p:spPr bwMode="auto">
          <a:xfrm flipV="1">
            <a:off x="5852160" y="3223260"/>
            <a:ext cx="457200" cy="29718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96735567" name="Text 28"/>
          <p:cNvSpPr txBox="1"/>
          <p:nvPr/>
        </p:nvSpPr>
        <p:spPr bwMode="auto">
          <a:xfrm>
            <a:off x="1371600" y="3520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55555"/>
                </a:solidFill>
                <a:latin typeface="Arial"/>
                <a:ea typeface="Arial"/>
                <a:cs typeface="Arial"/>
              </a:rPr>
              <a:t>isolation gate (ours): added before queue</a:t>
            </a:r>
            <a:endParaRPr lang="en-US" sz="750"/>
          </a:p>
        </p:txBody>
      </p:sp>
      <p:sp>
        <p:nvSpPr>
          <p:cNvPr id="1690431557" name="Text 29"/>
          <p:cNvSpPr txBox="1"/>
          <p:nvPr/>
        </p:nvSpPr>
        <p:spPr bwMode="auto">
          <a:xfrm>
            <a:off x="4389120" y="3749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55555"/>
                </a:solidFill>
                <a:latin typeface="Arial"/>
                <a:ea typeface="Arial"/>
                <a:cs typeface="Arial"/>
              </a:rPr>
              <a:t>MPC prewarms here</a:t>
            </a:r>
            <a:endParaRPr lang="en-US" sz="750"/>
          </a:p>
        </p:txBody>
      </p:sp>
      <p:sp>
        <p:nvSpPr>
          <p:cNvPr id="43595284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480876" name="Text 0"/>
          <p:cNvSpPr txBox="1"/>
          <p:nvPr/>
        </p:nvSpPr>
        <p:spPr bwMode="auto"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 Plan, Summary and Next Steps</a:t>
            </a:r>
            <a:endParaRPr lang="en-US" sz="2200"/>
          </a:p>
        </p:txBody>
      </p:sp>
      <p:graphicFrame>
        <p:nvGraphicFramePr>
          <p:cNvPr id="115638915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65760" y="777240"/>
          <a:ext cx="46634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80160"/>
                <a:gridCol w="3383280"/>
              </a:tblGrid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Planned setting (Eval-2)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Schedulers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Helper / OpenWhisk, Double-Dip, MPC / AiW, always-isolate, Ours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Workloads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Uniform, Poisson, bursty (Kumo generators)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Attacker intensity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Sweep, e.g. 0–10 attacks per benign invocation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Cluster size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Sweep number of workers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Seeds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Multiple random seeds, mean reported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Sandbox levels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Shared / Isolated / Dedicated; parameters [TBD]</a:t>
                      </a:r>
                      <a:endParaRPr lang="en-US"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t">
                    <a:lnL w="6350" algn="ctr">
                      <a:solidFill>
                        <a:srgbClr val="D1D5DB"/>
                      </a:solidFill>
                    </a:lnL>
                    <a:lnR w="6350" algn="ctr">
                      <a:solidFill>
                        <a:srgbClr val="D1D5DB"/>
                      </a:solidFill>
                    </a:lnR>
                    <a:lnT w="6350" algn="ctr">
                      <a:solidFill>
                        <a:srgbClr val="D1D5DB"/>
                      </a:solidFill>
                    </a:lnT>
                    <a:lnB w="635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39252429" name="Text 1"/>
          <p:cNvSpPr txBox="1"/>
          <p:nvPr/>
        </p:nvSpPr>
        <p:spPr bwMode="auto">
          <a:xfrm>
            <a:off x="5303520" y="777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Covered today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Problem formulation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Literature review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Research gap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Mathematical model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Algorithm / pseudocode</a:t>
            </a:r>
            <a:endParaRPr lang="en-US" sz="9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Simulator choice: Kumo</a:t>
            </a:r>
            <a:endParaRPr lang="en-US" sz="900"/>
          </a:p>
        </p:txBody>
      </p:sp>
      <p:sp>
        <p:nvSpPr>
          <p:cNvPr id="692980462" name="Text 2"/>
          <p:cNvSpPr txBox="1"/>
          <p:nvPr/>
        </p:nvSpPr>
        <p:spPr bwMode="auto">
          <a:xfrm>
            <a:off x="365760" y="27432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 add to Kumo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Sandbox-level model (3 levels)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Per-tenant risk tag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Adaptive weight w_R = f(risk, load)</a:t>
            </a:r>
            <a:endParaRPr lang="en-US" sz="850"/>
          </a:p>
        </p:txBody>
      </p:sp>
      <p:sp>
        <p:nvSpPr>
          <p:cNvPr id="2111348580" name="Text 3"/>
          <p:cNvSpPr txBox="1"/>
          <p:nvPr/>
        </p:nvSpPr>
        <p:spPr bwMode="auto">
          <a:xfrm>
            <a:off x="3200400" y="2743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Hypothesis / stretch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To test: lower co-location and violations vs MPC and Helper at small latency cost; lower overhead vs always-isolate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Stretch, not committed: automated weight tuning; Kumo cost-model integration</a:t>
            </a:r>
            <a:endParaRPr lang="en-US" sz="850"/>
          </a:p>
        </p:txBody>
      </p:sp>
      <p:sp>
        <p:nvSpPr>
          <p:cNvPr id="468477442" name="Text 4"/>
          <p:cNvSpPr txBox="1"/>
          <p:nvPr/>
        </p:nvSpPr>
        <p:spPr bwMode="auto">
          <a:xfrm>
            <a:off x="6126480" y="27432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steps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Eval-2 (23 Oct): implement in Kumo, run baselines, compare with 3× 2025/2026 papers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Eval-3 (30 Oct): IEEE-format report</a:t>
            </a:r>
            <a:endParaRPr lang="en-US" sz="85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measured improvement claimed yet</a:t>
            </a:r>
            <a:endParaRPr lang="en-US" sz="850"/>
          </a:p>
        </p:txBody>
      </p:sp>
      <p:sp>
        <p:nvSpPr>
          <p:cNvPr id="1914924657" name="Text 5"/>
          <p:cNvSpPr txBox="1"/>
          <p:nvPr/>
        </p:nvSpPr>
        <p:spPr bwMode="auto">
          <a:xfrm>
            <a:off x="365760" y="44348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Kumo proves the scheduler matters; we propose the scheduler.</a:t>
            </a:r>
            <a:endParaRPr lang="en-US" sz="1100"/>
          </a:p>
        </p:txBody>
      </p:sp>
      <p:sp>
        <p:nvSpPr>
          <p:cNvPr id="17511310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21039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Risk-Aware Cloud Sandbox Scheduling</dc:title>
  <dc:subject>PptxGenJS Presentation</dc:subject>
  <dc:creator>Jayesh Krishan Puri</dc:creator>
  <cp:lastModifiedBy/>
  <cp:revision>3</cp:revision>
  <dcterms:created xsi:type="dcterms:W3CDTF">2026-10-05T02:13:42Z</dcterms:created>
  <dcterms:modified xsi:type="dcterms:W3CDTF">2026-10-05T03:20:26Z</dcterms:modified>
</cp:coreProperties>
</file>